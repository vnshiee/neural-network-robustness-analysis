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38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888960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Georgia"/>
              </a:defRPr>
            </a:pPr>
            <a:r>
              <a:rPr dirty="0"/>
              <a:t>Analysis of Network Robustness</a:t>
            </a:r>
          </a:p>
          <a:p>
            <a:pPr>
              <a:defRPr sz="1800">
                <a:solidFill>
                  <a:srgbClr val="64748B"/>
                </a:solidFill>
                <a:latin typeface="Segoe UI"/>
              </a:defRPr>
            </a:pPr>
            <a:r>
              <a:rPr dirty="0"/>
              <a:t>Evaluating Architectural Baselines &amp; Out-of-Distribution Resilience</a:t>
            </a:r>
            <a:r>
              <a:rPr lang="en-IN" dirty="0"/>
              <a:t>                                     @Vanshika_Gupta_23365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396241" y="1371600"/>
            <a:ext cx="548640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7680" y="1550015"/>
            <a:ext cx="423718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rPr sz="2400" dirty="0"/>
              <a:t>Baseline Evaluation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324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endParaRPr lang="en-IN" sz="1500" b="1" dirty="0">
              <a:solidFill>
                <a:srgbClr val="0F172A"/>
              </a:solidFill>
              <a:latin typeface="Segoe UI"/>
            </a:endParaRPr>
          </a:p>
          <a:p>
            <a:pPr>
              <a:spcBef>
                <a:spcPts val="1000"/>
              </a:spcBef>
            </a:pPr>
            <a:r>
              <a:rPr sz="1500" b="1" dirty="0" err="1">
                <a:solidFill>
                  <a:srgbClr val="0F172A"/>
                </a:solidFill>
                <a:latin typeface="Segoe UI"/>
              </a:rPr>
              <a:t>ResNet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Memorization:</a:t>
            </a:r>
            <a:r>
              <a:rPr sz="1500" b="0" dirty="0">
                <a:solidFill>
                  <a:srgbClr val="475569"/>
                </a:solidFill>
                <a:latin typeface="Segoe UI"/>
              </a:rPr>
              <a:t> Achieves highest training accuracy and rapid loss reduction, but repeatedly suffers from noticeable overfitting. Its local feature mapping lacks OOD robustness.</a:t>
            </a:r>
          </a:p>
          <a:p>
            <a:pPr>
              <a:spcBef>
                <a:spcPts val="1000"/>
              </a:spcBef>
            </a:pPr>
            <a:r>
              <a:rPr sz="1500" b="1" dirty="0" err="1">
                <a:solidFill>
                  <a:srgbClr val="0F172A"/>
                </a:solidFill>
                <a:latin typeface="Segoe UI"/>
              </a:rPr>
              <a:t>ViT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Stability:</a:t>
            </a:r>
            <a:r>
              <a:rPr sz="1500" b="0" dirty="0">
                <a:solidFill>
                  <a:srgbClr val="475569"/>
                </a:solidFill>
                <a:latin typeface="Segoe UI"/>
              </a:rPr>
              <a:t> Consistently avoids overfitting by relying on global multi-head attention rather than local convolutions, maintaining stable generalization.</a:t>
            </a:r>
          </a:p>
          <a:p>
            <a:pPr>
              <a:spcBef>
                <a:spcPts val="1000"/>
              </a:spcBef>
            </a:pPr>
            <a:r>
              <a:rPr sz="1500" b="1" dirty="0" err="1">
                <a:solidFill>
                  <a:srgbClr val="0F172A"/>
                </a:solidFill>
                <a:latin typeface="Segoe UI"/>
              </a:rPr>
              <a:t>ConvNeXT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&amp; VGG:</a:t>
            </a:r>
            <a:r>
              <a:rPr sz="1500" b="0" dirty="0">
                <a:solidFill>
                  <a:srgbClr val="475569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475569"/>
                </a:solidFill>
                <a:latin typeface="Segoe UI"/>
              </a:rPr>
              <a:t>ConvNeXT</a:t>
            </a:r>
            <a:r>
              <a:rPr sz="1500" b="0" dirty="0">
                <a:solidFill>
                  <a:srgbClr val="475569"/>
                </a:solidFill>
                <a:latin typeface="Segoe UI"/>
              </a:rPr>
              <a:t> learns smoothly with strong inductive biases (evident on ImageNet-100), while VGG shows steady progression but lacks capacity for complex datasets.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2651760" cy="1280160"/>
          </a:xfrm>
          <a:prstGeom prst="roundRect">
            <a:avLst/>
          </a:prstGeom>
          <a:solidFill>
            <a:srgbClr val="EFF6FF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90500" rtlCol="0" anchor="ctr"/>
          <a:lstStyle/>
          <a:p>
            <a:pPr algn="ctr">
              <a:defRPr sz="3800" b="1">
                <a:solidFill>
                  <a:srgbClr val="EF4444"/>
                </a:solidFill>
              </a:defRPr>
            </a:pPr>
            <a:r>
              <a:rPr dirty="0"/>
              <a:t>-56%</a:t>
            </a:r>
          </a:p>
          <a:p>
            <a:pPr algn="ctr">
              <a:defRPr sz="1100" b="1">
                <a:solidFill>
                  <a:srgbClr val="64748B"/>
                </a:solidFill>
              </a:defRPr>
            </a:pPr>
            <a:r>
              <a:rPr dirty="0"/>
              <a:t>RESNET ACCURACY COLLAPSE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371600"/>
            <a:ext cx="2651760" cy="1280160"/>
          </a:xfrm>
          <a:prstGeom prst="roundRect">
            <a:avLst/>
          </a:prstGeom>
          <a:solidFill>
            <a:srgbClr val="EFF6FF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90500" rtlCol="0" anchor="ctr"/>
          <a:lstStyle/>
          <a:p>
            <a:pPr algn="ctr">
              <a:defRPr sz="3800" b="1">
                <a:solidFill>
                  <a:srgbClr val="10B981"/>
                </a:solidFill>
              </a:defRPr>
            </a:pPr>
            <a:r>
              <a:rPr dirty="0"/>
              <a:t>-1.2%</a:t>
            </a:r>
          </a:p>
          <a:p>
            <a:pPr algn="ctr">
              <a:defRPr sz="1100" b="1">
                <a:solidFill>
                  <a:srgbClr val="64748B"/>
                </a:solidFill>
              </a:defRPr>
            </a:pPr>
            <a:r>
              <a:rPr dirty="0"/>
              <a:t>VIT ACCURACY RETENTION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834640"/>
            <a:ext cx="5486400" cy="2651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29260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Architectural Inferences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29184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 b="1">
                <a:solidFill>
                  <a:srgbClr val="0F172A"/>
                </a:solidFill>
                <a:latin typeface="Segoe UI"/>
              </a:rPr>
              <a:t>CNN Fragility:</a:t>
            </a:r>
            <a:r>
              <a:rPr sz="1500" b="0">
                <a:solidFill>
                  <a:srgbClr val="475569"/>
                </a:solidFill>
                <a:latin typeface="Segoe UI"/>
              </a:rPr>
              <a:t> ResNet hyper-tunes to local image contours. Under OOD structural noise, these localized feature maps entirely dissolve.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0F172A"/>
                </a:solidFill>
                <a:latin typeface="Segoe UI"/>
              </a:rPr>
              <a:t>Transformer Dominance:</a:t>
            </a:r>
            <a:r>
              <a:rPr sz="1500" b="0">
                <a:solidFill>
                  <a:srgbClr val="475569"/>
                </a:solidFill>
                <a:latin typeface="Segoe UI"/>
              </a:rPr>
              <a:t> Vision Transformers (ViTs) utilize multi-headed self-attention to calculate macro relationships. By abandoning standard translational biases, they universally exhibit massive geometric resistance.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DSE316/616 Assignment-2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8095" y="64922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4A3B8"/>
                </a:solidFill>
                <a:latin typeface="Segoe UI"/>
              </a:defRPr>
            </a:pPr>
            <a:r>
              <a:t>Slide 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Georgia"/>
              </a:defRPr>
            </a:pPr>
            <a:r>
              <a:t>Validation Optimization &amp; Decision Boundaries</a:t>
            </a:r>
          </a:p>
          <a:p>
            <a:pPr>
              <a:defRPr sz="1800">
                <a:solidFill>
                  <a:srgbClr val="64748B"/>
                </a:solidFill>
                <a:latin typeface="Segoe UI"/>
              </a:defRPr>
            </a:pPr>
            <a:r>
              <a:t>Impact of Corrupted Validation Sets on Model Topologies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Optimization Peaks by Dataset</a:t>
            </a:r>
          </a:p>
        </p:txBody>
      </p:sp>
      <p:pic>
        <p:nvPicPr>
          <p:cNvPr id="5" name="Picture 4" descr="optimize_corruptions_cifar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4" y="1920240"/>
            <a:ext cx="3364992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0233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4748B"/>
                </a:solidFill>
                <a:latin typeface="Segoe UI"/>
              </a:defRPr>
            </a:pPr>
            <a:r>
              <a:t>Figure: Structural Optimization Sweep (CIFAR-10)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>
                <a:solidFill>
                  <a:srgbClr val="475569"/>
                </a:solidFill>
                <a:latin typeface="Segoe UI"/>
              </a:rPr>
              <a:t>Robustness peaks correlate heavily to structural complexity: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75569"/>
                </a:solidFill>
                <a:latin typeface="Segoe UI"/>
              </a:rPr>
              <a:t>• CIFAR-10 (Dense): Peaks early at 1 corruption.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75569"/>
                </a:solidFill>
                <a:latin typeface="Segoe UI"/>
              </a:rPr>
              <a:t>• ImageNet-100 (Complex): Peaks at 5 corruptions.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75569"/>
                </a:solidFill>
                <a:latin typeface="Segoe UI"/>
              </a:rPr>
              <a:t>• F-MNIST (Smooth): Requires heavy noise, peaking at 10 corruptions.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Geographic Tensor Boundaries</a:t>
            </a:r>
          </a:p>
        </p:txBody>
      </p:sp>
      <p:pic>
        <p:nvPicPr>
          <p:cNvPr id="10" name="Picture 9" descr="decision_boundary_fmn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554" y="1920240"/>
            <a:ext cx="4807131" cy="2103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40233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4748B"/>
                </a:solidFill>
                <a:latin typeface="Segoe UI"/>
              </a:defRPr>
            </a:pPr>
            <a:r>
              <a:t>Figure: Inverse PCA Border Maps (F-MNIST)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2976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 b="1">
                <a:solidFill>
                  <a:srgbClr val="0F172A"/>
                </a:solidFill>
                <a:latin typeface="Segoe UI"/>
              </a:rPr>
              <a:t>The Mapping Shift:</a:t>
            </a:r>
            <a:r>
              <a:rPr sz="1500" b="0">
                <a:solidFill>
                  <a:srgbClr val="475569"/>
                </a:solidFill>
                <a:latin typeface="Segoe UI"/>
              </a:rPr>
              <a:t> Clean validation models generate over-constrained borders highly susceptible to minimal shifts.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475569"/>
                </a:solidFill>
                <a:latin typeface="Segoe UI"/>
              </a:rPr>
              <a:t>Models trained against corrupted validation synthetically relax these boundaries, acting as an organic buffer against OOD spatial deformations.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Phase 3 &amp; 4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095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4A3B8"/>
                </a:solidFill>
                <a:latin typeface="Segoe UI"/>
              </a:defRPr>
            </a:pPr>
            <a:r>
              <a:t>Slide 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Georgia"/>
              </a:defRPr>
            </a:pPr>
            <a:r>
              <a:t>Inter-Layer Topological Disruption</a:t>
            </a:r>
          </a:p>
          <a:p>
            <a:pPr>
              <a:defRPr sz="1800">
                <a:solidFill>
                  <a:srgbClr val="64748B"/>
                </a:solidFill>
                <a:latin typeface="Segoe UI"/>
              </a:defRPr>
            </a:pPr>
            <a:r>
              <a:t>Tracking Structural Matrix Noise &amp; Final Conclusions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6858000" cy="3474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6492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Dynamic Feature Perturbation</a:t>
            </a:r>
          </a:p>
        </p:txBody>
      </p:sp>
      <p:pic>
        <p:nvPicPr>
          <p:cNvPr id="5" name="Picture 4" descr="feature_perturbation_imagenet100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4114800" cy="2468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297680"/>
            <a:ext cx="6492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4748B"/>
                </a:solidFill>
                <a:latin typeface="Segoe UI"/>
              </a:defRPr>
            </a:pPr>
            <a:r>
              <a:t>Figure: Feature Disruption at Early, Middle, and Late Arrays (ImageNet-100)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371600"/>
            <a:ext cx="4114800" cy="3474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0" y="146304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Topology Inferences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37490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Initial Edge Catastrophe:</a:t>
            </a:r>
            <a:r>
              <a:rPr sz="1400" b="0">
                <a:solidFill>
                  <a:srgbClr val="475569"/>
                </a:solidFill>
                <a:latin typeface="Segoe UI"/>
              </a:rPr>
              <a:t> Injecting noise in early spatial operations permanently destroys downstream global representation. Early matrices are critical bottlenecks.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Deep Layer Regularization:</a:t>
            </a:r>
            <a:r>
              <a:rPr sz="1400" b="0">
                <a:solidFill>
                  <a:srgbClr val="475569"/>
                </a:solidFill>
                <a:latin typeface="Segoe UI"/>
              </a:rPr>
              <a:t> Confining spatial variables exclusively to late classification matrices (e.g., ImageNet middle/late stages) acts identically to pseudo-dropout, marginally augmenting or preserving generalization metrics.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120640"/>
            <a:ext cx="11247120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5212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Final 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600">
                <a:solidFill>
                  <a:srgbClr val="CBD5E1"/>
                </a:solidFill>
                <a:latin typeface="Segoe UI"/>
              </a:rPr>
              <a:t>ViTs deliver unparalleled geometric resilience natively. Meanwhile, manipulating MLP structural boundaries via targeted validation corruption mathematically creates optimal, wider decision buffers capable of absorbing complex structural OOD vectors dynamically.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Phase 5 &amp; Final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095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4A3B8"/>
                </a:solidFill>
                <a:latin typeface="Segoe UI"/>
              </a:defRPr>
            </a:pPr>
            <a:r>
              <a:t>Slide 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422</Words>
  <Application>Microsoft Office PowerPoint</Application>
  <PresentationFormat>Widescreen</PresentationFormat>
  <Paragraphs>41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vanshika gupta</cp:lastModifiedBy>
  <cp:revision>3</cp:revision>
  <dcterms:created xsi:type="dcterms:W3CDTF">2013-01-27T09:14:16Z</dcterms:created>
  <dcterms:modified xsi:type="dcterms:W3CDTF">2026-03-23T16:16:04Z</dcterms:modified>
  <cp:category/>
</cp:coreProperties>
</file>